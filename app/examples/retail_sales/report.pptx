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5029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600" b="1">
                <a:solidFill>
                  <a:srgbClr val="FFFFFF"/>
                </a:solidFill>
                <a:latin typeface="Georgia"/>
              </a:rPr>
              <a:t>May 2026 Revenue Performance</a:t>
            </a:r>
          </a:p>
          <a:p>
            <a:r>
              <a:rPr sz="1700" b="0">
                <a:solidFill>
                  <a:srgbClr val="C0C5C9"/>
                </a:solidFill>
                <a:latin typeface="Calibri"/>
              </a:rPr>
              <a:t>Retail / Commerce dataset  ·  104,567 rows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3E66"/>
                </a:solidFill>
                <a:latin typeface="Georgia"/>
              </a:rPr>
              <a:t>Revenue growth indicates strong market positioning and channel effectiveness.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Total revenue reached $998k in May 2026, reflecting a growth of +4.5%.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North America generated $262k, accounting for 26.2% of total revenue.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Online sales led with $537k, representing 53.8% of total revenue.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Electronics category sales totaled $293k, making up 29.4% of total revenue.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The Coffee Grinder experienced a decline of -$2k compared to the prior month.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Calibri"/>
              </a:rPr>
              <a:t>FINANCIAL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3E66"/>
                </a:solidFill>
                <a:latin typeface="Georgia"/>
              </a:rPr>
              <a:t>Total revenue increased by $43k to $998k in 2026-05, indicating growth.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performance: Monthly revenue, verified against the data.</a:t>
            </a:r>
          </a:p>
        </p:txBody>
      </p:sp>
      <p:pic>
        <p:nvPicPr>
          <p:cNvPr id="5" name="Picture 4" descr="char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54480"/>
            <a:ext cx="10332720" cy="306154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4754880"/>
            <a:ext cx="2510713" cy="5080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251071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63E66"/>
                </a:solidFill>
                <a:latin typeface="Georgia"/>
              </a:rPr>
              <a:t>$998k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68112"/>
            <a:ext cx="251071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Latest month (2026-05)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79393" y="4754880"/>
            <a:ext cx="2510713" cy="5080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79393" y="4846320"/>
            <a:ext cx="251071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63E66"/>
                </a:solidFill>
                <a:latin typeface="Georgia"/>
              </a:rPr>
              <a:t>$1.41M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79393" y="5468112"/>
            <a:ext cx="251071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Peak month (2025-12)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1587" y="4754880"/>
            <a:ext cx="2510713" cy="5080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1587" y="4846320"/>
            <a:ext cx="251071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63E66"/>
                </a:solidFill>
                <a:latin typeface="Georgia"/>
              </a:rPr>
              <a:t>$753k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1587" y="5468112"/>
            <a:ext cx="251071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Lowest month (2026-02)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23781" y="4754880"/>
            <a:ext cx="2510713" cy="5080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23781" y="4846320"/>
            <a:ext cx="251071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63E66"/>
                </a:solidFill>
                <a:latin typeface="Georgia"/>
              </a:rPr>
              <a:t>+$96k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3781" y="5468112"/>
            <a:ext cx="251071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Change since 2025-06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Calibri"/>
              </a:rPr>
              <a:t>REGION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3E66"/>
                </a:solidFill>
                <a:latin typeface="Georgia"/>
              </a:rPr>
              <a:t>North America leads with $262k, while EMEA grows by +$14k.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dim_region: revenue by region (2026-05), verified against the data.</a:t>
            </a:r>
          </a:p>
        </p:txBody>
      </p:sp>
      <p:pic>
        <p:nvPicPr>
          <p:cNvPr id="5" name="Picture 4" descr="char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In the revenue breakdown for 2026-05, North America stands out with a total of $262k, representing the highest contribution among all regions. EMEA follows with a total of $219k, showing a significant increase of +$14k compared to the previous period. The concentration of revenue is highest in North America, followed by EMEA and APAC, which totals $202k.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16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Calibri"/>
              </a:rPr>
              <a:t>Focusing on EMEA's growth can enhance overall revenue performance.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North America: $262k, leading region in revenue.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EMEA: $219k, biggest mover with +$14k growth.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APAC contributes $202k, maintaining strong performance.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Calibri"/>
              </a:rPr>
              <a:t>CHANNEL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3E66"/>
                </a:solidFill>
                <a:latin typeface="Georgia"/>
              </a:rPr>
              <a:t>Online leads with $537k, capturing 53.8% of total revenue.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dim_channel: revenue by channel (2026-05), verified against the data.</a:t>
            </a:r>
          </a:p>
        </p:txBody>
      </p:sp>
      <p:pic>
        <p:nvPicPr>
          <p:cNvPr id="5" name="Picture 4" descr="char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In May 2026, Online revenue reached $537k, representing 53.8% of total revenue, while In-store revenue was $461k. The Online channel not only leads in total revenue but also showed a significant increase of +$35k compared to the previous month. In-store revenue also grew, but at a lower rate of +$8k, indicating a stronger momentum for Online sales.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16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Calibri"/>
              </a:rPr>
              <a:t>The strong growth in Online revenue suggests a shift in consumer purchasing behavior favoring digital channels.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Online revenue increased by +$35k from April to May.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In-store revenue rose by +$8k in the same period.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Online accounts for over half of total revenue, highlighting its dominance.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Calibri"/>
              </a:rPr>
              <a:t>CATEGORY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3E66"/>
                </a:solidFill>
                <a:latin typeface="Georgia"/>
              </a:rPr>
              <a:t>Electronics leads with $293k, while Home &amp; Kitchen grows by $24k.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dim_category: revenue by category (2026-05), verified against the data.</a:t>
            </a:r>
          </a:p>
        </p:txBody>
      </p:sp>
      <p:pic>
        <p:nvPicPr>
          <p:cNvPr id="5" name="Picture 4" descr="chart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In May 2026, Electronics generated $293k, making it the top category. Home &amp; Kitchen follows closely with $279k, showing significant growth of $24k from the previous month. Beauty &amp; Wellness also performed well, increasing by $10k to reach $248k, indicating a strong demand in these categories.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16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Calibri"/>
              </a:rPr>
              <a:t>The growth in Home &amp; Kitchen suggests a rising consumer preference that could drive future strategy.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Electronics: $293k, leading category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Home &amp; Kitchen: $279k, +$24k growth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Beauty &amp; Wellness: $248k, +$10k growth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Calibri"/>
              </a:rPr>
              <a:t>PRODUCT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3E66"/>
                </a:solidFill>
                <a:latin typeface="Georgia"/>
              </a:rPr>
              <a:t>Wireless Earbuds lead with $163k, while Air Fryer grows by $15k.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dim_product: revenue by product (2026-05), verified against the data.</a:t>
            </a:r>
          </a:p>
        </p:txBody>
      </p:sp>
      <p:pic>
        <p:nvPicPr>
          <p:cNvPr id="5" name="Picture 4" descr="chart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In May 2026, Wireless Earbuds generated $163k, making it the top product by revenue. The Air Fryer followed with $133k, showing significant growth of $15k from the previous month. This indicates a strong concentration in the top two products, which together account for a substantial portion of total sales.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16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Calibri"/>
              </a:rPr>
              <a:t>Focusing on high-performing products like Wireless Earbuds and Air Fryer can drive future growth.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Wireless Earbuds at $163k dominate the product lineup.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Air Fryer shows the largest growth with an increase of $15k.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Top two products represent a significant revenue concentration.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Calibri"/>
              </a:rPr>
              <a:t>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3E66"/>
                </a:solidFill>
                <a:latin typeface="Georgia"/>
              </a:rPr>
              <a:t>Priorities for the coming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Calibri"/>
              </a:rPr>
              <a:t>1.   Increase online marketing efforts to boost the $537k from the online channel.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Calibri"/>
              </a:rPr>
              <a:t>2.   Focus on promoting the Wireless Earbuds, which generated $163k, to maximize sales.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Calibri"/>
              </a:rPr>
              <a:t>3.   Investigate the decline of the Coffee Grinder, which decreased by -$2k, and implement corrective actions.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Calibri"/>
              </a:rPr>
              <a:t>4.   Expand product offerings in the Electronics category, currently at $293k, to capture more market share.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