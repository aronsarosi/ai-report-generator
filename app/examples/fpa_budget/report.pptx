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057400"/>
            <a:ext cx="10881360" cy="1554480"/>
          </a:xfrm>
          <a:prstGeom prst="rect">
            <a:avLst/>
          </a:prstGeom>
          <a:noFill/>
        </p:spPr>
        <p:txBody>
          <a:bodyPr wrap="square">
            <a:spAutoFit/>
          </a:bodyPr>
          <a:lstStyle/>
          <a:p>
            <a:r>
              <a:rPr sz="4600" b="1">
                <a:solidFill>
                  <a:srgbClr val="1F2A44"/>
                </a:solidFill>
                <a:latin typeface="Georgia"/>
              </a:rPr>
              <a:t>May Financial Performance Overview</a:t>
            </a:r>
          </a:p>
        </p:txBody>
      </p:sp>
      <p:sp>
        <p:nvSpPr>
          <p:cNvPr id="3" name="TextBox 2"/>
          <p:cNvSpPr txBox="1"/>
          <p:nvPr/>
        </p:nvSpPr>
        <p:spPr>
          <a:xfrm>
            <a:off x="640080" y="3703320"/>
            <a:ext cx="10881360" cy="548640"/>
          </a:xfrm>
          <a:prstGeom prst="rect">
            <a:avLst/>
          </a:prstGeom>
          <a:noFill/>
        </p:spPr>
        <p:txBody>
          <a:bodyPr wrap="square">
            <a:spAutoFit/>
          </a:bodyPr>
          <a:lstStyle/>
          <a:p>
            <a:r>
              <a:rPr sz="1700" b="0">
                <a:solidFill>
                  <a:srgbClr val="7A828C"/>
                </a:solidFill>
                <a:latin typeface="Arial"/>
              </a:rPr>
              <a:t>Period 2026-05  |  source table: ex_fpa_budget</a:t>
            </a:r>
          </a:p>
        </p:txBody>
      </p:sp>
      <p:sp>
        <p:nvSpPr>
          <p:cNvPr id="4" name="TextBox 3"/>
          <p:cNvSpPr txBox="1"/>
          <p:nvPr/>
        </p:nvSpPr>
        <p:spPr>
          <a:xfrm>
            <a:off x="640080" y="4206240"/>
            <a:ext cx="10881360" cy="457200"/>
          </a:xfrm>
          <a:prstGeom prst="rect">
            <a:avLst/>
          </a:prstGeom>
          <a:noFill/>
        </p:spPr>
        <p:txBody>
          <a:bodyPr wrap="square">
            <a:spAutoFit/>
          </a:bodyPr>
          <a:lstStyle/>
          <a:p>
            <a:r>
              <a:rPr sz="1100" b="0">
                <a:solidFill>
                  <a:srgbClr val="7A828C"/>
                </a:solidFill>
                <a:latin typeface="Arial"/>
              </a:rPr>
              <a:t>Generated 2026-06-10 15:44 UTC   |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77295" cy="274320"/>
          </a:xfrm>
          <a:prstGeom prst="rect">
            <a:avLst/>
          </a:prstGeom>
          <a:noFill/>
        </p:spPr>
        <p:txBody>
          <a:bodyPr wrap="square">
            <a:spAutoFit/>
          </a:bodyPr>
          <a:lstStyle/>
          <a:p>
            <a:r>
              <a:rPr sz="1300" b="1">
                <a:solidFill>
                  <a:srgbClr val="2E6DB4"/>
                </a:solidFill>
                <a:latin typeface="Arial"/>
              </a:rPr>
              <a:t>EXECUTIVE SUMMARY</a:t>
            </a:r>
          </a:p>
        </p:txBody>
      </p:sp>
      <p:sp>
        <p:nvSpPr>
          <p:cNvPr id="3" name="TextBox 2"/>
          <p:cNvSpPr txBox="1"/>
          <p:nvPr/>
        </p:nvSpPr>
        <p:spPr>
          <a:xfrm>
            <a:off x="457200" y="585216"/>
            <a:ext cx="11277295" cy="1005840"/>
          </a:xfrm>
          <a:prstGeom prst="rect">
            <a:avLst/>
          </a:prstGeom>
          <a:noFill/>
        </p:spPr>
        <p:txBody>
          <a:bodyPr wrap="square">
            <a:spAutoFit/>
          </a:bodyPr>
          <a:lstStyle/>
          <a:p>
            <a:r>
              <a:rPr sz="3000" b="1">
                <a:solidFill>
                  <a:srgbClr val="1F2A44"/>
                </a:solidFill>
                <a:latin typeface="Georgia"/>
              </a:rPr>
              <a:t>Sales remains strong, but Operations faces decline.</a:t>
            </a:r>
          </a:p>
        </p:txBody>
      </p:sp>
      <p:sp>
        <p:nvSpPr>
          <p:cNvPr id="4" name="TextBox 3"/>
          <p:cNvSpPr txBox="1"/>
          <p:nvPr/>
        </p:nvSpPr>
        <p:spPr>
          <a:xfrm>
            <a:off x="457200" y="6473952"/>
            <a:ext cx="11277295" cy="274320"/>
          </a:xfrm>
          <a:prstGeom prst="rect">
            <a:avLst/>
          </a:prstGeom>
          <a:noFill/>
        </p:spPr>
        <p:txBody>
          <a:bodyPr wrap="square">
            <a:spAutoFit/>
          </a:bodyPr>
          <a:lstStyle/>
          <a:p>
            <a:r>
              <a:rPr sz="900" b="0">
                <a:solidFill>
                  <a:srgbClr val="7A828C"/>
                </a:solidFill>
                <a:latin typeface="Arial"/>
              </a:rPr>
              <a:t>Source: figures verified against the source data.</a:t>
            </a:r>
          </a:p>
        </p:txBody>
      </p:sp>
      <p:sp>
        <p:nvSpPr>
          <p:cNvPr id="5" name="TextBox 4"/>
          <p:cNvSpPr txBox="1"/>
          <p:nvPr/>
        </p:nvSpPr>
        <p:spPr>
          <a:xfrm>
            <a:off x="457200" y="1874519"/>
            <a:ext cx="11277295" cy="4206240"/>
          </a:xfrm>
          <a:prstGeom prst="rect">
            <a:avLst/>
          </a:prstGeom>
          <a:noFill/>
        </p:spPr>
        <p:txBody>
          <a:bodyPr wrap="square">
            <a:spAutoFit/>
          </a:bodyPr>
          <a:lstStyle/>
          <a:p>
            <a:pPr>
              <a:spcAft>
                <a:spcPts val="1600"/>
              </a:spcAft>
            </a:pPr>
            <a:r>
              <a:rPr sz="1600" b="1">
                <a:solidFill>
                  <a:srgbClr val="2E6DB4"/>
                </a:solidFill>
              </a:rPr>
              <a:t>●  </a:t>
            </a:r>
            <a:r>
              <a:rPr sz="1600" b="0">
                <a:solidFill>
                  <a:srgbClr val="3C4450"/>
                </a:solidFill>
                <a:latin typeface="Arial"/>
              </a:rPr>
              <a:t>Total actual is $501k in 2026-05, down from $511k in 2026-04.</a:t>
            </a:r>
          </a:p>
          <a:p>
            <a:pPr>
              <a:spcAft>
                <a:spcPts val="1600"/>
              </a:spcAft>
            </a:pPr>
            <a:r>
              <a:rPr sz="1600" b="1">
                <a:solidFill>
                  <a:srgbClr val="2E6DB4"/>
                </a:solidFill>
              </a:rPr>
              <a:t>●  </a:t>
            </a:r>
            <a:r>
              <a:rPr sz="1600" b="0">
                <a:solidFill>
                  <a:srgbClr val="3C4450"/>
                </a:solidFill>
                <a:latin typeface="Arial"/>
              </a:rPr>
              <a:t>Sales leads with $147k, representing 29.3% of total actual.</a:t>
            </a:r>
          </a:p>
          <a:p>
            <a:pPr>
              <a:spcAft>
                <a:spcPts val="1600"/>
              </a:spcAft>
            </a:pPr>
            <a:r>
              <a:rPr sz="1600" b="1">
                <a:solidFill>
                  <a:srgbClr val="2E6DB4"/>
                </a:solidFill>
              </a:rPr>
              <a:t>●  </a:t>
            </a:r>
            <a:r>
              <a:rPr sz="1600" b="0">
                <a:solidFill>
                  <a:srgbClr val="3C4450"/>
                </a:solidFill>
                <a:latin typeface="Arial"/>
              </a:rPr>
              <a:t>Operations experienced the largest decline at -$8k compared to prior.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77295" cy="274320"/>
          </a:xfrm>
          <a:prstGeom prst="rect">
            <a:avLst/>
          </a:prstGeom>
          <a:noFill/>
        </p:spPr>
        <p:txBody>
          <a:bodyPr wrap="square">
            <a:spAutoFit/>
          </a:bodyPr>
          <a:lstStyle/>
          <a:p>
            <a:r>
              <a:rPr sz="1300" b="1">
                <a:solidFill>
                  <a:srgbClr val="2E6DB4"/>
                </a:solidFill>
                <a:latin typeface="Arial"/>
              </a:rPr>
              <a:t>FINANCIAL PERFORMANCE</a:t>
            </a:r>
          </a:p>
        </p:txBody>
      </p:sp>
      <p:sp>
        <p:nvSpPr>
          <p:cNvPr id="3" name="TextBox 2"/>
          <p:cNvSpPr txBox="1"/>
          <p:nvPr/>
        </p:nvSpPr>
        <p:spPr>
          <a:xfrm>
            <a:off x="457200" y="585216"/>
            <a:ext cx="11277295" cy="1005840"/>
          </a:xfrm>
          <a:prstGeom prst="rect">
            <a:avLst/>
          </a:prstGeom>
          <a:noFill/>
        </p:spPr>
        <p:txBody>
          <a:bodyPr wrap="square">
            <a:spAutoFit/>
          </a:bodyPr>
          <a:lstStyle/>
          <a:p>
            <a:r>
              <a:rPr sz="3000" b="1">
                <a:solidFill>
                  <a:srgbClr val="1F2A44"/>
                </a:solidFill>
                <a:latin typeface="Georgia"/>
              </a:rPr>
              <a:t>Actual declined to $501k in May, down $10k from April's peak of $511k.</a:t>
            </a:r>
          </a:p>
        </p:txBody>
      </p:sp>
      <p:sp>
        <p:nvSpPr>
          <p:cNvPr id="4" name="TextBox 3"/>
          <p:cNvSpPr txBox="1"/>
          <p:nvPr/>
        </p:nvSpPr>
        <p:spPr>
          <a:xfrm>
            <a:off x="457200" y="6473952"/>
            <a:ext cx="11277295" cy="274320"/>
          </a:xfrm>
          <a:prstGeom prst="rect">
            <a:avLst/>
          </a:prstGeom>
          <a:noFill/>
        </p:spPr>
        <p:txBody>
          <a:bodyPr wrap="square">
            <a:spAutoFit/>
          </a:bodyPr>
          <a:lstStyle/>
          <a:p>
            <a:r>
              <a:rPr sz="900" b="0">
                <a:solidFill>
                  <a:srgbClr val="7A828C"/>
                </a:solidFill>
                <a:latin typeface="Arial"/>
              </a:rPr>
              <a:t>Source: performance: Monthly actual, verified against the data.</a:t>
            </a:r>
          </a:p>
        </p:txBody>
      </p:sp>
      <p:pic>
        <p:nvPicPr>
          <p:cNvPr id="5" name="Picture 4" descr="chart_0.png"/>
          <p:cNvPicPr>
            <a:picLocks noChangeAspect="1"/>
          </p:cNvPicPr>
          <p:nvPr/>
        </p:nvPicPr>
        <p:blipFill>
          <a:blip r:embed="rId2"/>
          <a:stretch>
            <a:fillRect/>
          </a:stretch>
        </p:blipFill>
        <p:spPr>
          <a:xfrm>
            <a:off x="457200" y="1783080"/>
            <a:ext cx="6949440" cy="3563815"/>
          </a:xfrm>
          <a:prstGeom prst="rect">
            <a:avLst/>
          </a:prstGeom>
        </p:spPr>
      </p:pic>
      <p:sp>
        <p:nvSpPr>
          <p:cNvPr id="6" name="TextBox 5"/>
          <p:cNvSpPr txBox="1"/>
          <p:nvPr/>
        </p:nvSpPr>
        <p:spPr>
          <a:xfrm>
            <a:off x="457200" y="5486400"/>
            <a:ext cx="6949440" cy="868680"/>
          </a:xfrm>
          <a:prstGeom prst="rect">
            <a:avLst/>
          </a:prstGeom>
          <a:noFill/>
        </p:spPr>
        <p:txBody>
          <a:bodyPr wrap="square">
            <a:spAutoFit/>
          </a:bodyPr>
          <a:lstStyle/>
          <a:p>
            <a:r>
              <a:rPr sz="1100" b="0">
                <a:solidFill>
                  <a:srgbClr val="7A828C"/>
                </a:solidFill>
                <a:latin typeface="Arial"/>
              </a:rPr>
              <a:t>In May 2026, actual totaled $501k, reflecting a decrease of $10k or -1.9% compared to April's peak of $511k. This decline follows a recent upward trend, with April marking the highest monthly actual in the past year. Historically, actual has shown seasonal fluctuations, with the highest figures typically occurring in the early months of the year.</a:t>
            </a:r>
          </a:p>
        </p:txBody>
      </p:sp>
      <p:sp>
        <p:nvSpPr>
          <p:cNvPr id="7" name="Rectangle 6"/>
          <p:cNvSpPr/>
          <p:nvPr/>
        </p:nvSpPr>
        <p:spPr>
          <a:xfrm>
            <a:off x="7772400" y="1783080"/>
            <a:ext cx="3931920" cy="45720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tIns="18288" bIns="18288"/>
          <a:lstStyle/>
          <a:p>
            <a:pPr algn="ctr"/>
            <a:r>
              <a:rPr sz="1200" b="1">
                <a:solidFill>
                  <a:srgbClr val="FFFFFF"/>
                </a:solidFill>
                <a:latin typeface="Arial"/>
              </a:rPr>
              <a:t>KEY TAKEAWAY</a:t>
            </a:r>
          </a:p>
        </p:txBody>
      </p:sp>
      <p:sp>
        <p:nvSpPr>
          <p:cNvPr id="8" name="Rectangle 7"/>
          <p:cNvSpPr/>
          <p:nvPr/>
        </p:nvSpPr>
        <p:spPr>
          <a:xfrm>
            <a:off x="7772400" y="2240280"/>
            <a:ext cx="3931920" cy="3200400"/>
          </a:xfrm>
          <a:prstGeom prst="rect">
            <a:avLst/>
          </a:prstGeom>
          <a:solidFill>
            <a:srgbClr val="E6E8EB"/>
          </a:solidFill>
          <a:ln w="9525">
            <a:solidFill>
              <a:srgbClr val="C0C5C9"/>
            </a:solidFill>
          </a:ln>
          <a:effectLst/>
        </p:spPr>
        <p:style>
          <a:lnRef idx="1">
            <a:schemeClr val="accent1"/>
          </a:lnRef>
          <a:fillRef idx="3">
            <a:schemeClr val="accent1"/>
          </a:fillRef>
          <a:effectRef idx="2">
            <a:schemeClr val="accent1"/>
          </a:effectRef>
          <a:fontRef idx="minor">
            <a:schemeClr val="lt1"/>
          </a:fontRef>
        </p:style>
        <p:txBody>
          <a:bodyPr rtlCol="0" anchor="t" wrap="square" lIns="219456" rIns="219456" tIns="237744"/>
          <a:lstStyle/>
          <a:p>
            <a:pPr algn="l">
              <a:spcAft>
                <a:spcPts val="1600"/>
              </a:spcAft>
            </a:pPr>
            <a:r>
              <a:rPr sz="1300" b="0">
                <a:solidFill>
                  <a:srgbClr val="3C4450"/>
                </a:solidFill>
                <a:latin typeface="Arial"/>
              </a:rPr>
              <a:t>The decline in May suggests a need to analyze factors affecting monthly performance.</a:t>
            </a:r>
          </a:p>
          <a:p>
            <a:pPr algn="l">
              <a:spcAft>
                <a:spcPts val="700"/>
              </a:spcAft>
            </a:pPr>
            <a:r>
              <a:rPr sz="1100" b="0">
                <a:solidFill>
                  <a:srgbClr val="3C4450"/>
                </a:solidFill>
                <a:latin typeface="Arial"/>
              </a:rPr>
              <a:t>•  May's actual of $501k is lower than April's $511k peak.</a:t>
            </a:r>
          </a:p>
          <a:p>
            <a:pPr algn="l">
              <a:spcAft>
                <a:spcPts val="700"/>
              </a:spcAft>
            </a:pPr>
            <a:r>
              <a:rPr sz="1100" b="0">
                <a:solidFill>
                  <a:srgbClr val="3C4450"/>
                </a:solidFill>
                <a:latin typeface="Arial"/>
              </a:rPr>
              <a:t>•  The trend shows a recent peak in April, followed by a slight decline.</a:t>
            </a:r>
          </a:p>
          <a:p>
            <a:pPr algn="l">
              <a:spcAft>
                <a:spcPts val="700"/>
              </a:spcAft>
            </a:pPr>
            <a:r>
              <a:rPr sz="1100" b="0">
                <a:solidFill>
                  <a:srgbClr val="3C4450"/>
                </a:solidFill>
                <a:latin typeface="Arial"/>
              </a:rPr>
              <a:t>•  Year-over-year, actual remains strong compared to mid-2025 levels around $484k.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77295" cy="274320"/>
          </a:xfrm>
          <a:prstGeom prst="rect">
            <a:avLst/>
          </a:prstGeom>
          <a:noFill/>
        </p:spPr>
        <p:txBody>
          <a:bodyPr wrap="square">
            <a:spAutoFit/>
          </a:bodyPr>
          <a:lstStyle/>
          <a:p>
            <a:r>
              <a:rPr sz="1300" b="1">
                <a:solidFill>
                  <a:srgbClr val="2E6DB4"/>
                </a:solidFill>
                <a:latin typeface="Arial"/>
              </a:rPr>
              <a:t>DEPARTMENT BREAKDOWN</a:t>
            </a:r>
          </a:p>
        </p:txBody>
      </p:sp>
      <p:sp>
        <p:nvSpPr>
          <p:cNvPr id="3" name="TextBox 2"/>
          <p:cNvSpPr txBox="1"/>
          <p:nvPr/>
        </p:nvSpPr>
        <p:spPr>
          <a:xfrm>
            <a:off x="457200" y="585216"/>
            <a:ext cx="11277295" cy="1005840"/>
          </a:xfrm>
          <a:prstGeom prst="rect">
            <a:avLst/>
          </a:prstGeom>
          <a:noFill/>
        </p:spPr>
        <p:txBody>
          <a:bodyPr wrap="square">
            <a:spAutoFit/>
          </a:bodyPr>
          <a:lstStyle/>
          <a:p>
            <a:r>
              <a:rPr sz="3000" b="1">
                <a:solidFill>
                  <a:srgbClr val="1F2A44"/>
                </a:solidFill>
                <a:latin typeface="Georgia"/>
              </a:rPr>
              <a:t>Operations leads with $101k, but decreased by -$8k from April.</a:t>
            </a:r>
          </a:p>
        </p:txBody>
      </p:sp>
      <p:sp>
        <p:nvSpPr>
          <p:cNvPr id="4" name="TextBox 3"/>
          <p:cNvSpPr txBox="1"/>
          <p:nvPr/>
        </p:nvSpPr>
        <p:spPr>
          <a:xfrm>
            <a:off x="457200" y="6473952"/>
            <a:ext cx="11277295" cy="274320"/>
          </a:xfrm>
          <a:prstGeom prst="rect">
            <a:avLst/>
          </a:prstGeom>
          <a:noFill/>
        </p:spPr>
        <p:txBody>
          <a:bodyPr wrap="square">
            <a:spAutoFit/>
          </a:bodyPr>
          <a:lstStyle/>
          <a:p>
            <a:r>
              <a:rPr sz="900" b="0">
                <a:solidFill>
                  <a:srgbClr val="7A828C"/>
                </a:solidFill>
                <a:latin typeface="Arial"/>
              </a:rPr>
              <a:t>Source: dim_department: actual by department (2026-05), verified against the data.</a:t>
            </a:r>
          </a:p>
        </p:txBody>
      </p:sp>
      <p:pic>
        <p:nvPicPr>
          <p:cNvPr id="5" name="Picture 4" descr="chart_1.png"/>
          <p:cNvPicPr>
            <a:picLocks noChangeAspect="1"/>
          </p:cNvPicPr>
          <p:nvPr/>
        </p:nvPicPr>
        <p:blipFill>
          <a:blip r:embed="rId2"/>
          <a:stretch>
            <a:fillRect/>
          </a:stretch>
        </p:blipFill>
        <p:spPr>
          <a:xfrm>
            <a:off x="457200" y="1783080"/>
            <a:ext cx="6949440" cy="3563815"/>
          </a:xfrm>
          <a:prstGeom prst="rect">
            <a:avLst/>
          </a:prstGeom>
        </p:spPr>
      </p:pic>
      <p:sp>
        <p:nvSpPr>
          <p:cNvPr id="6" name="TextBox 5"/>
          <p:cNvSpPr txBox="1"/>
          <p:nvPr/>
        </p:nvSpPr>
        <p:spPr>
          <a:xfrm>
            <a:off x="457200" y="5486400"/>
            <a:ext cx="6949440" cy="868680"/>
          </a:xfrm>
          <a:prstGeom prst="rect">
            <a:avLst/>
          </a:prstGeom>
          <a:noFill/>
        </p:spPr>
        <p:txBody>
          <a:bodyPr wrap="square">
            <a:spAutoFit/>
          </a:bodyPr>
          <a:lstStyle/>
          <a:p>
            <a:r>
              <a:rPr sz="1100" b="0">
                <a:solidFill>
                  <a:srgbClr val="7A828C"/>
                </a:solidFill>
                <a:latin typeface="Arial"/>
              </a:rPr>
              <a:t>In May 2026, Operations holds the highest total at $101k, despite a decline of -$8k compared to April. Sales follows closely with $147k, also experiencing a slight decrease of -$1k. Marketing is the only department that saw an increase, rising by +$2k to reach $75k, indicating a positive trend in that area.</a:t>
            </a:r>
          </a:p>
        </p:txBody>
      </p:sp>
      <p:sp>
        <p:nvSpPr>
          <p:cNvPr id="7" name="Rectangle 6"/>
          <p:cNvSpPr/>
          <p:nvPr/>
        </p:nvSpPr>
        <p:spPr>
          <a:xfrm>
            <a:off x="7772400" y="1783080"/>
            <a:ext cx="3931920" cy="457200"/>
          </a:xfrm>
          <a:prstGeom prst="rect">
            <a:avLst/>
          </a:prstGeom>
          <a:solidFill>
            <a:srgbClr val="1F2A44"/>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tIns="18288" bIns="18288"/>
          <a:lstStyle/>
          <a:p>
            <a:pPr algn="ctr"/>
            <a:r>
              <a:rPr sz="1200" b="1">
                <a:solidFill>
                  <a:srgbClr val="FFFFFF"/>
                </a:solidFill>
                <a:latin typeface="Arial"/>
              </a:rPr>
              <a:t>KEY TAKEAWAY</a:t>
            </a:r>
          </a:p>
        </p:txBody>
      </p:sp>
      <p:sp>
        <p:nvSpPr>
          <p:cNvPr id="8" name="Rectangle 7"/>
          <p:cNvSpPr/>
          <p:nvPr/>
        </p:nvSpPr>
        <p:spPr>
          <a:xfrm>
            <a:off x="7772400" y="2240280"/>
            <a:ext cx="3931920" cy="3200400"/>
          </a:xfrm>
          <a:prstGeom prst="rect">
            <a:avLst/>
          </a:prstGeom>
          <a:solidFill>
            <a:srgbClr val="E6E8EB"/>
          </a:solidFill>
          <a:ln w="9525">
            <a:solidFill>
              <a:srgbClr val="C0C5C9"/>
            </a:solidFill>
          </a:ln>
          <a:effectLst/>
        </p:spPr>
        <p:style>
          <a:lnRef idx="1">
            <a:schemeClr val="accent1"/>
          </a:lnRef>
          <a:fillRef idx="3">
            <a:schemeClr val="accent1"/>
          </a:fillRef>
          <a:effectRef idx="2">
            <a:schemeClr val="accent1"/>
          </a:effectRef>
          <a:fontRef idx="minor">
            <a:schemeClr val="lt1"/>
          </a:fontRef>
        </p:style>
        <p:txBody>
          <a:bodyPr rtlCol="0" anchor="t" wrap="square" lIns="219456" rIns="219456" tIns="237744"/>
          <a:lstStyle/>
          <a:p>
            <a:pPr algn="l">
              <a:spcAft>
                <a:spcPts val="1600"/>
              </a:spcAft>
            </a:pPr>
            <a:r>
              <a:rPr sz="1300" b="0">
                <a:solidFill>
                  <a:srgbClr val="3C4450"/>
                </a:solidFill>
                <a:latin typeface="Arial"/>
              </a:rPr>
              <a:t>Focus on revitalizing Operations and leveraging Marketing's growth to enhance overall performance.</a:t>
            </a:r>
          </a:p>
          <a:p>
            <a:pPr algn="l">
              <a:spcAft>
                <a:spcPts val="700"/>
              </a:spcAft>
            </a:pPr>
            <a:r>
              <a:rPr sz="1100" b="0">
                <a:solidFill>
                  <a:srgbClr val="3C4450"/>
                </a:solidFill>
                <a:latin typeface="Arial"/>
              </a:rPr>
              <a:t>•  Operations decreased by -$8k, leading the department totals at $101k.</a:t>
            </a:r>
          </a:p>
          <a:p>
            <a:pPr algn="l">
              <a:spcAft>
                <a:spcPts val="700"/>
              </a:spcAft>
            </a:pPr>
            <a:r>
              <a:rPr sz="1100" b="0">
                <a:solidFill>
                  <a:srgbClr val="3C4450"/>
                </a:solidFill>
                <a:latin typeface="Arial"/>
              </a:rPr>
              <a:t>•  Sales remains significant at $147k, but declined by -$1k.</a:t>
            </a:r>
          </a:p>
          <a:p>
            <a:pPr algn="l">
              <a:spcAft>
                <a:spcPts val="700"/>
              </a:spcAft>
            </a:pPr>
            <a:r>
              <a:rPr sz="1100" b="0">
                <a:solidFill>
                  <a:srgbClr val="3C4450"/>
                </a:solidFill>
                <a:latin typeface="Arial"/>
              </a:rPr>
              <a:t>•  Marketing increased by +$2k, showing growth in its budget allocation.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77295" cy="274320"/>
          </a:xfrm>
          <a:prstGeom prst="rect">
            <a:avLst/>
          </a:prstGeom>
          <a:noFill/>
        </p:spPr>
        <p:txBody>
          <a:bodyPr wrap="square">
            <a:spAutoFit/>
          </a:bodyPr>
          <a:lstStyle/>
          <a:p>
            <a:r>
              <a:rPr sz="1300" b="1">
                <a:solidFill>
                  <a:srgbClr val="2E6DB4"/>
                </a:solidFill>
                <a:latin typeface="Arial"/>
              </a:rPr>
              <a:t>RECOMMENDATIONS</a:t>
            </a:r>
          </a:p>
        </p:txBody>
      </p:sp>
      <p:sp>
        <p:nvSpPr>
          <p:cNvPr id="3" name="TextBox 2"/>
          <p:cNvSpPr txBox="1"/>
          <p:nvPr/>
        </p:nvSpPr>
        <p:spPr>
          <a:xfrm>
            <a:off x="457200" y="585216"/>
            <a:ext cx="11277295" cy="1005840"/>
          </a:xfrm>
          <a:prstGeom prst="rect">
            <a:avLst/>
          </a:prstGeom>
          <a:noFill/>
        </p:spPr>
        <p:txBody>
          <a:bodyPr wrap="square">
            <a:spAutoFit/>
          </a:bodyPr>
          <a:lstStyle/>
          <a:p>
            <a:r>
              <a:rPr sz="3000" b="1">
                <a:solidFill>
                  <a:srgbClr val="1F2A44"/>
                </a:solidFill>
                <a:latin typeface="Georgia"/>
              </a:rPr>
              <a:t>Priorities for the coming month</a:t>
            </a:r>
          </a:p>
        </p:txBody>
      </p:sp>
      <p:sp>
        <p:nvSpPr>
          <p:cNvPr id="4" name="TextBox 3"/>
          <p:cNvSpPr txBox="1"/>
          <p:nvPr/>
        </p:nvSpPr>
        <p:spPr>
          <a:xfrm>
            <a:off x="457200" y="6473952"/>
            <a:ext cx="11277295" cy="274320"/>
          </a:xfrm>
          <a:prstGeom prst="rect">
            <a:avLst/>
          </a:prstGeom>
          <a:noFill/>
        </p:spPr>
        <p:txBody>
          <a:bodyPr wrap="square">
            <a:spAutoFit/>
          </a:bodyPr>
          <a:lstStyle/>
          <a:p>
            <a:r>
              <a:rPr sz="900" b="0">
                <a:solidFill>
                  <a:srgbClr val="7A828C"/>
                </a:solidFill>
                <a:latin typeface="Arial"/>
              </a:rPr>
              <a:t>Source: figures verified against the source data.</a:t>
            </a:r>
          </a:p>
        </p:txBody>
      </p:sp>
      <p:sp>
        <p:nvSpPr>
          <p:cNvPr id="5" name="TextBox 4"/>
          <p:cNvSpPr txBox="1"/>
          <p:nvPr/>
        </p:nvSpPr>
        <p:spPr>
          <a:xfrm>
            <a:off x="457200" y="1874519"/>
            <a:ext cx="11277295" cy="4206240"/>
          </a:xfrm>
          <a:prstGeom prst="rect">
            <a:avLst/>
          </a:prstGeom>
          <a:noFill/>
        </p:spPr>
        <p:txBody>
          <a:bodyPr wrap="square">
            <a:spAutoFit/>
          </a:bodyPr>
          <a:lstStyle/>
          <a:p>
            <a:pPr>
              <a:spcAft>
                <a:spcPts val="1600"/>
              </a:spcAft>
            </a:pPr>
            <a:r>
              <a:rPr sz="1600" b="0">
                <a:solidFill>
                  <a:srgbClr val="3C4450"/>
                </a:solidFill>
                <a:latin typeface="Arial"/>
              </a:rPr>
              <a:t>1.   Increase Sales initiatives to capitalize on the $147k contribution, which is 29.3% of total.</a:t>
            </a:r>
          </a:p>
          <a:p>
            <a:pPr>
              <a:spcAft>
                <a:spcPts val="1600"/>
              </a:spcAft>
            </a:pPr>
            <a:r>
              <a:rPr sz="1600" b="0">
                <a:solidFill>
                  <a:srgbClr val="3C4450"/>
                </a:solidFill>
                <a:latin typeface="Arial"/>
              </a:rPr>
              <a:t>2.   Investigate the $8k decline in Operations to identify root causes and implement corrective actions.</a:t>
            </a:r>
          </a:p>
          <a:p>
            <a:pPr>
              <a:spcAft>
                <a:spcPts val="1600"/>
              </a:spcAft>
            </a:pPr>
            <a:r>
              <a:rPr sz="1600" b="0">
                <a:solidFill>
                  <a:srgbClr val="3C4450"/>
                </a:solidFill>
                <a:latin typeface="Arial"/>
              </a:rPr>
              <a:t>3.   Review budget allocations to ensure support for departments experiencing declines, particularly Operations.</a:t>
            </a:r>
          </a:p>
          <a:p>
            <a:pPr>
              <a:spcAft>
                <a:spcPts val="1600"/>
              </a:spcAft>
            </a:pPr>
            <a:r>
              <a:rPr sz="1600" b="0">
                <a:solidFill>
                  <a:srgbClr val="3C4450"/>
                </a:solidFill>
                <a:latin typeface="Arial"/>
              </a:rPr>
              <a:t>4.   Enhance performance tracking to address the overall actual decrease of $10k from the prior month.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