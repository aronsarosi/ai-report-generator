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14503B"/>
                </a:solidFill>
                <a:latin typeface="Cambria"/>
              </a:rPr>
              <a:t>May Financial Performance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1554480" cy="762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7180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7A828C"/>
                </a:solidFill>
                <a:latin typeface="Calibri"/>
              </a:rPr>
              <a:t>Finance / FP&amp;A dataset  ·  1,152 rows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7C66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503B"/>
                </a:solidFill>
                <a:latin typeface="Cambria"/>
              </a:rPr>
              <a:t>Stable total actuals indicate consistent financial health despite minor declines.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28C"/>
                </a:solidFill>
                <a:latin typeface="Calibri"/>
              </a:rPr>
              <a:t>Source: figures verified against the source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12772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0E7C66"/>
                </a:solidFill>
              </a:rPr>
              <a:t>●  </a:t>
            </a:r>
            <a:r>
              <a:rPr sz="1600" b="0">
                <a:solidFill>
                  <a:srgbClr val="3C4450"/>
                </a:solidFill>
                <a:latin typeface="Calibri"/>
              </a:rPr>
              <a:t>Total actual remains steady at $517k, reflecting stability.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0E7C66"/>
                </a:solidFill>
              </a:rPr>
              <a:t>●  </a:t>
            </a:r>
            <a:r>
              <a:rPr sz="1600" b="0">
                <a:solidFill>
                  <a:srgbClr val="3C4450"/>
                </a:solidFill>
                <a:latin typeface="Calibri"/>
              </a:rPr>
              <a:t>Sales leads departments at $149k, contributing 28.8% of total actual.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0E7C66"/>
                </a:solidFill>
              </a:rPr>
              <a:t>●  </a:t>
            </a:r>
            <a:r>
              <a:rPr sz="1600" b="0">
                <a:solidFill>
                  <a:srgbClr val="3C4450"/>
                </a:solidFill>
                <a:latin typeface="Calibri"/>
              </a:rPr>
              <a:t>Sales experienced a decline of -$5k compared to the prior month.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0E7C66"/>
                </a:solidFill>
              </a:rPr>
              <a:t>●  </a:t>
            </a:r>
            <a:r>
              <a:rPr sz="1600" b="0">
                <a:solidFill>
                  <a:srgbClr val="3C4450"/>
                </a:solidFill>
                <a:latin typeface="Calibri"/>
              </a:rPr>
              <a:t>Salaries &amp; Wages is the top category at $231k, making up 44.8% of total.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0E7C66"/>
                </a:solidFill>
              </a:rPr>
              <a:t>●  </a:t>
            </a:r>
            <a:r>
              <a:rPr sz="1600" b="0">
                <a:solidFill>
                  <a:srgbClr val="3C4450"/>
                </a:solidFill>
                <a:latin typeface="Calibri"/>
              </a:rPr>
              <a:t>Salaries &amp; Wages declined by -$2k versus the prior month.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7C66"/>
                </a:solidFill>
                <a:latin typeface="Calibri"/>
              </a:rPr>
              <a:t>FINANCIAL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503B"/>
                </a:solidFill>
                <a:latin typeface="Cambria"/>
              </a:rPr>
              <a:t>Actual remained stable at $517k in 2026-05, matching April's performance.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28C"/>
                </a:solidFill>
                <a:latin typeface="Calibri"/>
              </a:rPr>
              <a:t>Source: performance: Monthly actual, verified against the data.</a:t>
            </a:r>
          </a:p>
        </p:txBody>
      </p:sp>
      <p:pic>
        <p:nvPicPr>
          <p:cNvPr id="5" name="Picture 4" descr="char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54480"/>
            <a:ext cx="10332720" cy="306154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4754880"/>
            <a:ext cx="2510713" cy="508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251071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4503B"/>
                </a:solidFill>
                <a:latin typeface="Cambria"/>
              </a:rPr>
              <a:t>$517k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68112"/>
            <a:ext cx="251071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7A828C"/>
                </a:solidFill>
                <a:latin typeface="Calibri"/>
              </a:rPr>
              <a:t>Latest month (2026-05)</a:t>
            </a:r>
          </a:p>
        </p:txBody>
      </p:sp>
      <p:sp>
        <p:nvSpPr>
          <p:cNvPr id="9" name="Rectangle 8"/>
          <p:cNvSpPr/>
          <p:nvPr/>
        </p:nvSpPr>
        <p:spPr>
          <a:xfrm>
            <a:off x="3379393" y="4754880"/>
            <a:ext cx="2510713" cy="508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79393" y="4846320"/>
            <a:ext cx="251071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4503B"/>
                </a:solidFill>
                <a:latin typeface="Cambria"/>
              </a:rPr>
              <a:t>$530k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79393" y="5468112"/>
            <a:ext cx="251071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7A828C"/>
                </a:solidFill>
                <a:latin typeface="Calibri"/>
              </a:rPr>
              <a:t>Peak month (2026-02)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1587" y="4754880"/>
            <a:ext cx="2510713" cy="508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1587" y="4846320"/>
            <a:ext cx="251071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4503B"/>
                </a:solidFill>
                <a:latin typeface="Cambria"/>
              </a:rPr>
              <a:t>$484k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1587" y="5468112"/>
            <a:ext cx="251071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7A828C"/>
                </a:solidFill>
                <a:latin typeface="Calibri"/>
              </a:rPr>
              <a:t>Lowest month (2025-06)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23781" y="4754880"/>
            <a:ext cx="2510713" cy="508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23781" y="4846320"/>
            <a:ext cx="251071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4503B"/>
                </a:solidFill>
                <a:latin typeface="Cambria"/>
              </a:rPr>
              <a:t>+$32k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23781" y="5468112"/>
            <a:ext cx="251071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7A828C"/>
                </a:solidFill>
                <a:latin typeface="Calibri"/>
              </a:rPr>
              <a:t>Change since 2025-06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7C66"/>
                </a:solidFill>
                <a:latin typeface="Calibri"/>
              </a:rPr>
              <a:t>DEPARTMENT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503B"/>
                </a:solidFill>
                <a:latin typeface="Cambria"/>
              </a:rPr>
              <a:t>Sales leads with $149k, but decreased by -$5k from last month.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28C"/>
                </a:solidFill>
                <a:latin typeface="Calibri"/>
              </a:rPr>
              <a:t>Source: dim_department: actual by department (2026-05), verified against the data.</a:t>
            </a:r>
          </a:p>
        </p:txBody>
      </p:sp>
      <p:pic>
        <p:nvPicPr>
          <p:cNvPr id="5" name="Picture 4" descr="char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6949440" cy="35638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486400"/>
            <a:ext cx="6949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7A828C"/>
                </a:solidFill>
                <a:latin typeface="Calibri"/>
              </a:rPr>
              <a:t>In May 2026, the Sales department leads with a total of $149k, representing a significant portion of the overall departmental spend. However, it experienced a decline of -$5k compared to April 2026. Customer Success is the biggest mover, increasing by +$2k to reach $65k, reflecting a positive trend in that area.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783080"/>
            <a:ext cx="3931920" cy="457200"/>
          </a:xfrm>
          <a:prstGeom prst="rect">
            <a:avLst/>
          </a:prstGeom>
          <a:solidFill>
            <a:srgbClr val="145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KEY TAKEAWAY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2240280"/>
            <a:ext cx="3931920" cy="3200400"/>
          </a:xfrm>
          <a:prstGeom prst="rect">
            <a:avLst/>
          </a:prstGeom>
          <a:solidFill>
            <a:srgbClr val="E6E8EB"/>
          </a:solidFill>
          <a:ln w="9525">
            <a:solidFill>
              <a:srgbClr val="C0C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37744"/>
          <a:lstStyle/>
          <a:p>
            <a:pPr algn="l">
              <a:spcAft>
                <a:spcPts val="1600"/>
              </a:spcAft>
            </a:pPr>
            <a:r>
              <a:rPr sz="1300" b="0">
                <a:solidFill>
                  <a:srgbClr val="3C4450"/>
                </a:solidFill>
                <a:latin typeface="Calibri"/>
              </a:rPr>
              <a:t>The decline in Sales may require strategic focus to reverse the trend.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C4450"/>
                </a:solidFill>
                <a:latin typeface="Calibri"/>
              </a:rPr>
              <a:t>•  Sales at $149k, down -$5k from April.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C4450"/>
                </a:solidFill>
                <a:latin typeface="Calibri"/>
              </a:rPr>
              <a:t>•  Customer Success increased by +$2k to $65k.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C4450"/>
                </a:solidFill>
                <a:latin typeface="Calibri"/>
              </a:rPr>
              <a:t>•  Marketing also saw growth, up +$2k to $79k.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7C66"/>
                </a:solidFill>
                <a:latin typeface="Calibri"/>
              </a:rPr>
              <a:t>CATEGORY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503B"/>
                </a:solidFill>
                <a:latin typeface="Cambria"/>
              </a:rPr>
              <a:t>Salaries &amp; Wages dominate at $231k, with Software &amp; Cloud increasing by $2k.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28C"/>
                </a:solidFill>
                <a:latin typeface="Calibri"/>
              </a:rPr>
              <a:t>Source: dim_category: actual by category (2026-05), verified against the data.</a:t>
            </a:r>
          </a:p>
        </p:txBody>
      </p:sp>
      <p:pic>
        <p:nvPicPr>
          <p:cNvPr id="5" name="Picture 4" descr="chart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6949440" cy="35638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486400"/>
            <a:ext cx="6949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7A828C"/>
                </a:solidFill>
                <a:latin typeface="Calibri"/>
              </a:rPr>
              <a:t>In May 2026, Salaries &amp; Wages led all categories with a total of $231k, representing 44.8% of total spend. Software &amp; Cloud saw the largest increase, rising by $2k to $94k, while Salaries &amp; Wages experienced a decrease of $2k compared to the previous period. This indicates a shift in spending priorities towards technology investments.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783080"/>
            <a:ext cx="3931920" cy="457200"/>
          </a:xfrm>
          <a:prstGeom prst="rect">
            <a:avLst/>
          </a:prstGeom>
          <a:solidFill>
            <a:srgbClr val="145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KEY TAKEAWAY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2240280"/>
            <a:ext cx="3931920" cy="3200400"/>
          </a:xfrm>
          <a:prstGeom prst="rect">
            <a:avLst/>
          </a:prstGeom>
          <a:solidFill>
            <a:srgbClr val="E6E8EB"/>
          </a:solidFill>
          <a:ln w="9525">
            <a:solidFill>
              <a:srgbClr val="C0C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37744"/>
          <a:lstStyle/>
          <a:p>
            <a:pPr algn="l">
              <a:spcAft>
                <a:spcPts val="1600"/>
              </a:spcAft>
            </a:pPr>
            <a:r>
              <a:rPr sz="1300" b="0">
                <a:solidFill>
                  <a:srgbClr val="3C4450"/>
                </a:solidFill>
                <a:latin typeface="Calibri"/>
              </a:rPr>
              <a:t>The increase in Software &amp; Cloud spending suggests a strategic focus on technology enhancements.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C4450"/>
                </a:solidFill>
                <a:latin typeface="Calibri"/>
              </a:rPr>
              <a:t>•  Salaries &amp; Wages: $231k (44.8% of total)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C4450"/>
                </a:solidFill>
                <a:latin typeface="Calibri"/>
              </a:rPr>
              <a:t>•  Software &amp; Cloud: $94k, up $2k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C4450"/>
                </a:solidFill>
                <a:latin typeface="Calibri"/>
              </a:rPr>
              <a:t>•  Travel &amp; Events: $37k, up $224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7C66"/>
                </a:solidFill>
                <a:latin typeface="Calibri"/>
              </a:rP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503B"/>
                </a:solidFill>
                <a:latin typeface="Cambria"/>
              </a:rPr>
              <a:t>Priorities for the coming month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28C"/>
                </a:solidFill>
                <a:latin typeface="Calibri"/>
              </a:rPr>
              <a:t>Source: figures verified against the source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12772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 b="0">
                <a:solidFill>
                  <a:srgbClr val="3C4450"/>
                </a:solidFill>
                <a:latin typeface="Calibri"/>
              </a:rPr>
              <a:t>1.   Analyze Sales performance to identify drivers behind the $5k decline and implement corrective actions.</a:t>
            </a:r>
          </a:p>
          <a:p>
            <a:pPr>
              <a:spcAft>
                <a:spcPts val="1600"/>
              </a:spcAft>
            </a:pPr>
            <a:r>
              <a:rPr sz="1600" b="0">
                <a:solidFill>
                  <a:srgbClr val="3C4450"/>
                </a:solidFill>
                <a:latin typeface="Calibri"/>
              </a:rPr>
              <a:t>2.   Review Salaries &amp; Wages expenditures to optimize costs and address the $2k decrease.</a:t>
            </a:r>
          </a:p>
          <a:p>
            <a:pPr>
              <a:spcAft>
                <a:spcPts val="1600"/>
              </a:spcAft>
            </a:pPr>
            <a:r>
              <a:rPr sz="1600" b="0">
                <a:solidFill>
                  <a:srgbClr val="3C4450"/>
                </a:solidFill>
                <a:latin typeface="Calibri"/>
              </a:rPr>
              <a:t>3.   Enhance forecasting methods to mitigate the -0.1% change in total actual and improve future projections.</a:t>
            </a:r>
          </a:p>
          <a:p>
            <a:pPr>
              <a:spcAft>
                <a:spcPts val="1600"/>
              </a:spcAft>
            </a:pPr>
            <a:r>
              <a:rPr sz="1600" b="0">
                <a:solidFill>
                  <a:srgbClr val="3C4450"/>
                </a:solidFill>
                <a:latin typeface="Calibri"/>
              </a:rPr>
              <a:t>4.   Prioritize investment in Sales initiatives to regain momentum and boost the department's contribution.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