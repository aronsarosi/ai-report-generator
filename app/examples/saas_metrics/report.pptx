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106070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163E66"/>
                </a:solidFill>
                <a:latin typeface="Trebuchet MS"/>
              </a:rPr>
              <a:t>Monthly MRR Performance Review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743200"/>
            <a:ext cx="1554480" cy="76200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97180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7A828C"/>
                </a:solidFill>
                <a:latin typeface="Trebuchet MS"/>
              </a:rPr>
              <a:t>SaaS / Subscriptions dataset  ·  1,152 rows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6DB4"/>
                </a:solidFill>
                <a:latin typeface="Trebuchet MS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63E66"/>
                </a:solidFill>
                <a:latin typeface="Trebuchet MS"/>
              </a:rPr>
              <a:t>Declining MRR signals urgent need for strategic adjustments.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Trebuchet MS"/>
              </a:rPr>
              <a:t>Source: figures verified against the source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74519"/>
            <a:ext cx="1127729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600" b="1">
                <a:solidFill>
                  <a:srgbClr val="2E6DB4"/>
                </a:solidFill>
              </a:rPr>
              <a:t>●  </a:t>
            </a:r>
            <a:r>
              <a:rPr sz="1600" b="0">
                <a:solidFill>
                  <a:srgbClr val="3C4450"/>
                </a:solidFill>
                <a:latin typeface="Trebuchet MS"/>
              </a:rPr>
              <a:t>Total MRR decreased to $3.82M, down -1.4% from $3.87M.</a:t>
            </a:r>
          </a:p>
          <a:p>
            <a:pPr>
              <a:spcAft>
                <a:spcPts val="1600"/>
              </a:spcAft>
            </a:pPr>
            <a:r>
              <a:rPr sz="1600" b="1">
                <a:solidFill>
                  <a:srgbClr val="2E6DB4"/>
                </a:solidFill>
              </a:rPr>
              <a:t>●  </a:t>
            </a:r>
            <a:r>
              <a:rPr sz="1600" b="0">
                <a:solidFill>
                  <a:srgbClr val="3C4450"/>
                </a:solidFill>
                <a:latin typeface="Trebuchet MS"/>
              </a:rPr>
              <a:t>Enterprise remains the top plan at $1.99M, contributing 52.2% of total MRR.</a:t>
            </a:r>
          </a:p>
          <a:p>
            <a:pPr>
              <a:spcAft>
                <a:spcPts val="1600"/>
              </a:spcAft>
            </a:pPr>
            <a:r>
              <a:rPr sz="1600" b="1">
                <a:solidFill>
                  <a:srgbClr val="2E6DB4"/>
                </a:solidFill>
              </a:rPr>
              <a:t>●  </a:t>
            </a:r>
            <a:r>
              <a:rPr sz="1600" b="0">
                <a:solidFill>
                  <a:srgbClr val="3C4450"/>
                </a:solidFill>
                <a:latin typeface="Trebuchet MS"/>
              </a:rPr>
              <a:t>Business plan experienced the largest decline at -$30k compared to the prior month.</a:t>
            </a:r>
          </a:p>
          <a:p>
            <a:pPr>
              <a:spcAft>
                <a:spcPts val="1600"/>
              </a:spcAft>
            </a:pPr>
            <a:r>
              <a:rPr sz="1600" b="1">
                <a:solidFill>
                  <a:srgbClr val="2E6DB4"/>
                </a:solidFill>
              </a:rPr>
              <a:t>●  </a:t>
            </a:r>
            <a:r>
              <a:rPr sz="1600" b="0">
                <a:solidFill>
                  <a:srgbClr val="3C4450"/>
                </a:solidFill>
                <a:latin typeface="Trebuchet MS"/>
              </a:rPr>
              <a:t>United States leads countries with $515k, accounting for 13.5% of total MRR.</a:t>
            </a:r>
          </a:p>
          <a:p>
            <a:pPr>
              <a:spcAft>
                <a:spcPts val="1600"/>
              </a:spcAft>
            </a:pPr>
            <a:r>
              <a:rPr sz="1600" b="1">
                <a:solidFill>
                  <a:srgbClr val="2E6DB4"/>
                </a:solidFill>
              </a:rPr>
              <a:t>●  </a:t>
            </a:r>
            <a:r>
              <a:rPr sz="1600" b="0">
                <a:solidFill>
                  <a:srgbClr val="3C4450"/>
                </a:solidFill>
                <a:latin typeface="Trebuchet MS"/>
              </a:rPr>
              <a:t>United States saw a decline of -$43k from the previous month.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6DB4"/>
                </a:solidFill>
                <a:latin typeface="Trebuchet MS"/>
              </a:rPr>
              <a:t>FINANCIAL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63E66"/>
                </a:solidFill>
                <a:latin typeface="Trebuchet MS"/>
              </a:rPr>
              <a:t>Total MRR decreased to $3.82M in May, down $53k from April.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Trebuchet MS"/>
              </a:rPr>
              <a:t>Source: performance: Monthly mrr, verified against the data.</a:t>
            </a:r>
          </a:p>
        </p:txBody>
      </p:sp>
      <p:pic>
        <p:nvPicPr>
          <p:cNvPr id="5" name="Picture 4" descr="char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554480"/>
            <a:ext cx="10332720" cy="306154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" y="4754880"/>
            <a:ext cx="2510713" cy="50800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2510713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63E66"/>
                </a:solidFill>
                <a:latin typeface="Trebuchet MS"/>
              </a:rPr>
              <a:t>$3.82M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468112"/>
            <a:ext cx="2510713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A828C"/>
                </a:solidFill>
                <a:latin typeface="Trebuchet MS"/>
              </a:rPr>
              <a:t>Latest month (2026-05)</a:t>
            </a:r>
          </a:p>
        </p:txBody>
      </p:sp>
      <p:sp>
        <p:nvSpPr>
          <p:cNvPr id="9" name="Rectangle 8"/>
          <p:cNvSpPr/>
          <p:nvPr/>
        </p:nvSpPr>
        <p:spPr>
          <a:xfrm>
            <a:off x="3379393" y="4754880"/>
            <a:ext cx="2510713" cy="50800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79393" y="4846320"/>
            <a:ext cx="2510713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63E66"/>
                </a:solidFill>
                <a:latin typeface="Trebuchet MS"/>
              </a:rPr>
              <a:t>$3.87M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79393" y="5468112"/>
            <a:ext cx="2510713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A828C"/>
                </a:solidFill>
                <a:latin typeface="Trebuchet MS"/>
              </a:rPr>
              <a:t>Peak month (2026-04)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1587" y="4754880"/>
            <a:ext cx="2510713" cy="50800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1587" y="4846320"/>
            <a:ext cx="2510713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63E66"/>
                </a:solidFill>
                <a:latin typeface="Trebuchet MS"/>
              </a:rPr>
              <a:t>$3.28M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1587" y="5468112"/>
            <a:ext cx="2510713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A828C"/>
                </a:solidFill>
                <a:latin typeface="Trebuchet MS"/>
              </a:rPr>
              <a:t>Lowest month (2025-07)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223781" y="4754880"/>
            <a:ext cx="2510713" cy="50800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23781" y="4846320"/>
            <a:ext cx="2510713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63E66"/>
                </a:solidFill>
                <a:latin typeface="Trebuchet MS"/>
              </a:rPr>
              <a:t>+$512k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23781" y="5468112"/>
            <a:ext cx="2510713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A828C"/>
                </a:solidFill>
                <a:latin typeface="Trebuchet MS"/>
              </a:rPr>
              <a:t>Change since 2025-06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6DB4"/>
                </a:solidFill>
                <a:latin typeface="Trebuchet MS"/>
              </a:rPr>
              <a:t>PLAN BREAKDOWN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63E66"/>
                </a:solidFill>
                <a:latin typeface="Trebuchet MS"/>
              </a:rPr>
              <a:t>Enterprise leads MRR at $1.99M, with Business declining by $30k.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Trebuchet MS"/>
              </a:rPr>
              <a:t>Source: dim_plan: mrr by plan (2026-05), verified against the data.</a:t>
            </a:r>
          </a:p>
        </p:txBody>
      </p:sp>
      <p:pic>
        <p:nvPicPr>
          <p:cNvPr id="5" name="Picture 4" descr="chart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83080"/>
            <a:ext cx="6949440" cy="356381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486400"/>
            <a:ext cx="6949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A828C"/>
                </a:solidFill>
                <a:latin typeface="Trebuchet MS"/>
              </a:rPr>
              <a:t>In May 2026, the Enterprise plan dominates with a total MRR of $1.99M, accounting for 52.2% of the overall MRR. The Business plan, while significant at $1.37M, experienced the largest decline of $30k compared to the previous month. The Starter plan also saw a decrease, falling to $455k from $471k, while the Free plan remains at $0.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0" y="1783080"/>
            <a:ext cx="3931920" cy="457200"/>
          </a:xfrm>
          <a:prstGeom prst="rect">
            <a:avLst/>
          </a:prstGeom>
          <a:solidFill>
            <a:srgbClr val="163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tIns="18288" b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Trebuchet MS"/>
              </a:rPr>
              <a:t>KEY TAKEAWAY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0" y="2240280"/>
            <a:ext cx="3931920" cy="3200400"/>
          </a:xfrm>
          <a:prstGeom prst="rect">
            <a:avLst/>
          </a:prstGeom>
          <a:solidFill>
            <a:srgbClr val="E6E8EB"/>
          </a:solidFill>
          <a:ln w="9525">
            <a:solidFill>
              <a:srgbClr val="C0C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219456" tIns="237744"/>
          <a:lstStyle/>
          <a:p>
            <a:pPr algn="l">
              <a:spcAft>
                <a:spcPts val="1600"/>
              </a:spcAft>
            </a:pPr>
            <a:r>
              <a:rPr sz="1300" b="0">
                <a:solidFill>
                  <a:srgbClr val="3C4450"/>
                </a:solidFill>
                <a:latin typeface="Trebuchet MS"/>
              </a:rPr>
              <a:t>The decline in Business and Starter plans signals potential challenges in customer retention.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Trebuchet MS"/>
              </a:rPr>
              <a:t>•  Enterprise plan contributes $1.99M, leading overall MRR.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Trebuchet MS"/>
              </a:rPr>
              <a:t>•  Business plan's MRR decreased by $30k, the largest drop.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Trebuchet MS"/>
              </a:rPr>
              <a:t>•  Starter plan's MRR fell to $455k, showing a downward trend.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6DB4"/>
                </a:solidFill>
                <a:latin typeface="Trebuchet MS"/>
              </a:rPr>
              <a:t>COUNTRY BREAKDOWN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63E66"/>
                </a:solidFill>
                <a:latin typeface="Trebuchet MS"/>
              </a:rPr>
              <a:t>The United States leads MRR at $515k, but decreased by -$43k this period.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Trebuchet MS"/>
              </a:rPr>
              <a:t>Source: dim_country: mrr by country (2026-05), verified against the data.</a:t>
            </a:r>
          </a:p>
        </p:txBody>
      </p:sp>
      <p:pic>
        <p:nvPicPr>
          <p:cNvPr id="5" name="Picture 4" descr="chart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83080"/>
            <a:ext cx="6949440" cy="356381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486400"/>
            <a:ext cx="6949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A828C"/>
                </a:solidFill>
                <a:latin typeface="Trebuchet MS"/>
              </a:rPr>
              <a:t>In May 2026, the United States remains the top contributor to MRR with $515k, followed by the United Kingdom at $377k and Germany at $360k. The overall MRR concentration is significant, with the top three countries accounting for a substantial portion of total MRR. Notably, France is the biggest mover this period, increasing its MRR by +$16k compared to April 2026.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0" y="1783080"/>
            <a:ext cx="3931920" cy="457200"/>
          </a:xfrm>
          <a:prstGeom prst="rect">
            <a:avLst/>
          </a:prstGeom>
          <a:solidFill>
            <a:srgbClr val="163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tIns="18288" b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Trebuchet MS"/>
              </a:rPr>
              <a:t>KEY TAKEAWAY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0" y="2240280"/>
            <a:ext cx="3931920" cy="3200400"/>
          </a:xfrm>
          <a:prstGeom prst="rect">
            <a:avLst/>
          </a:prstGeom>
          <a:solidFill>
            <a:srgbClr val="E6E8EB"/>
          </a:solidFill>
          <a:ln w="9525">
            <a:solidFill>
              <a:srgbClr val="C0C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219456" tIns="237744"/>
          <a:lstStyle/>
          <a:p>
            <a:pPr algn="l">
              <a:spcAft>
                <a:spcPts val="1600"/>
              </a:spcAft>
            </a:pPr>
            <a:r>
              <a:rPr sz="1300" b="0">
                <a:solidFill>
                  <a:srgbClr val="3C4450"/>
                </a:solidFill>
                <a:latin typeface="Trebuchet MS"/>
              </a:rPr>
              <a:t>This shift highlights the need to address declining MRR in key markets while leveraging growth in others.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Trebuchet MS"/>
              </a:rPr>
              <a:t>•  Top three countries contribute significantly to overall MRR concentration.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Trebuchet MS"/>
              </a:rPr>
              <a:t>•  France's MRR increased by +$16k, indicating positive growth.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Trebuchet MS"/>
              </a:rPr>
              <a:t>•  The United States experienced the largest decline at -$43k.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6DB4"/>
                </a:solidFill>
                <a:latin typeface="Trebuchet MS"/>
              </a:rPr>
              <a:t>RECOMMENDATIONS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63E66"/>
                </a:solidFill>
                <a:latin typeface="Trebuchet MS"/>
              </a:rPr>
              <a:t>Priorities for the coming month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Trebuchet MS"/>
              </a:rPr>
              <a:t>Source: figures verified against the source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74519"/>
            <a:ext cx="1127729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600" b="0">
                <a:solidFill>
                  <a:srgbClr val="3C4450"/>
                </a:solidFill>
                <a:latin typeface="Trebuchet MS"/>
              </a:rPr>
              <a:t>1.   Analyze and address the $30k decline in the Business plan to stabilize MRR.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3C4450"/>
                </a:solidFill>
                <a:latin typeface="Trebuchet MS"/>
              </a:rPr>
              <a:t>2.   Enhance marketing strategies in the United States to recover the $43k decline in revenue.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3C4450"/>
                </a:solidFill>
                <a:latin typeface="Trebuchet MS"/>
              </a:rPr>
              <a:t>3.   Focus on increasing the Enterprise plan, which currently represents $1.99M or 52.2% of total MRR.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3C4450"/>
                </a:solidFill>
                <a:latin typeface="Trebuchet MS"/>
              </a:rPr>
              <a:t>4.   Implement customer retention initiatives to prevent further declines in overall MRR, currently at $3.82M.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