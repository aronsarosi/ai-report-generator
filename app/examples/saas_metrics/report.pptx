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1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Trebuchet MS"/>
              </a:rPr>
              <a:t>Monthly MRR Performance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743200"/>
            <a:ext cx="1554480" cy="76200"/>
          </a:xfrm>
          <a:prstGeom prst="rect">
            <a:avLst/>
          </a:prstGeom>
          <a:solidFill>
            <a:srgbClr val="6C4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C0C5C9"/>
                </a:solidFill>
                <a:latin typeface="Trebuchet MS"/>
              </a:rPr>
              <a:t>SaaS / Subscriptions dataset  ·  1,152 rows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6C4BF0"/>
                </a:solidFill>
                <a:latin typeface="Trebuchet MS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11747"/>
                </a:solidFill>
                <a:latin typeface="Trebuchet MS"/>
              </a:rPr>
              <a:t>Declines in MRR highlight critical areas for improvement.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rebuchet MS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1">
                <a:solidFill>
                  <a:srgbClr val="6C4BF0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rebuchet MS"/>
              </a:rPr>
              <a:t>Total MRR decreased to $3.82M, down -1.4%.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6C4BF0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rebuchet MS"/>
              </a:rPr>
              <a:t>Enterprise remains the top plan at $1.99M, constituting 52.2% of total MRR.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6C4BF0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rebuchet MS"/>
              </a:rPr>
              <a:t>Business plan saw the largest decline of -$30k compared to the prior month.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6C4BF0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rebuchet MS"/>
              </a:rPr>
              <a:t>The United States leads countries with $515k, making up 13.5% of total MRR.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6C4BF0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rebuchet MS"/>
              </a:rPr>
              <a:t>The United States experienced a decline of -$43k from the previous month.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6C4BF0"/>
                </a:solidFill>
                <a:latin typeface="Trebuchet MS"/>
              </a:rPr>
              <a:t>FINANCIAL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11747"/>
                </a:solidFill>
                <a:latin typeface="Trebuchet MS"/>
              </a:rPr>
              <a:t>Total MRR declined to $3.82M in May, down $53k from April.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rebuchet MS"/>
              </a:rPr>
              <a:t>Source: performance: Monthly mrr, verified against the data.</a:t>
            </a:r>
          </a:p>
        </p:txBody>
      </p:sp>
      <p:pic>
        <p:nvPicPr>
          <p:cNvPr id="5" name="Picture 4" descr="char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rebuchet MS"/>
              </a:rPr>
              <a:t>In May 2026, total MRR was $3.82M, reflecting a decrease of $53k or -1.4% from April's peak of $3.87M. This decline marks a slight downturn after reaching a high in April, which was the peak month for MRR. The trend over the past year shows fluctuations, with MRR generally increasing until April, indicating potential seasonal patterns.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211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Trebuchet MS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Trebuchet MS"/>
              </a:rPr>
              <a:t>The decline in MRR suggests a need for strategies to sustain growth beyond seasonal peaks.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rebuchet MS"/>
              </a:rPr>
              <a:t>•  April 2026 was the peak month at $3.87M.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rebuchet MS"/>
              </a:rPr>
              <a:t>•  May 2026's MRR is lower than the previous month.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rebuchet MS"/>
              </a:rPr>
              <a:t>•  Recent trend shows MRR has been increasing since January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6C4BF0"/>
                </a:solidFill>
                <a:latin typeface="Trebuchet MS"/>
              </a:rPr>
              <a:t>PLAN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11747"/>
                </a:solidFill>
                <a:latin typeface="Trebuchet MS"/>
              </a:rPr>
              <a:t>Enterprise leads with $1.99M, while Business declines by $30k.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rebuchet MS"/>
              </a:rPr>
              <a:t>Source: dim_plan: mrr by plan (2026-05), verified against the data.</a:t>
            </a:r>
          </a:p>
        </p:txBody>
      </p:sp>
      <p:pic>
        <p:nvPicPr>
          <p:cNvPr id="5" name="Picture 4" descr="char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54480"/>
            <a:ext cx="10332720" cy="306154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4754880"/>
            <a:ext cx="3454298" cy="50800"/>
          </a:xfrm>
          <a:prstGeom prst="rect">
            <a:avLst/>
          </a:prstGeom>
          <a:solidFill>
            <a:srgbClr val="6C4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345429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1747"/>
                </a:solidFill>
                <a:latin typeface="Trebuchet MS"/>
              </a:rPr>
              <a:t>$1.99M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68112"/>
            <a:ext cx="345429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rebuchet MS"/>
              </a:rPr>
              <a:t>Enterprise plan contributes $1.99M, leading MRR concentration.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8698" y="4754880"/>
            <a:ext cx="3454298" cy="50800"/>
          </a:xfrm>
          <a:prstGeom prst="rect">
            <a:avLst/>
          </a:prstGeom>
          <a:solidFill>
            <a:srgbClr val="6C4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8698" y="4846320"/>
            <a:ext cx="345429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1747"/>
                </a:solidFill>
                <a:latin typeface="Trebuchet MS"/>
              </a:rPr>
              <a:t>$1.37M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8698" y="5468112"/>
            <a:ext cx="345429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rebuchet MS"/>
              </a:rPr>
              <a:t>Business plan declines by $30k, signaling potential market challenges.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80196" y="4754880"/>
            <a:ext cx="3454298" cy="50800"/>
          </a:xfrm>
          <a:prstGeom prst="rect">
            <a:avLst/>
          </a:prstGeom>
          <a:solidFill>
            <a:srgbClr val="6C4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4846320"/>
            <a:ext cx="345429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211747"/>
                </a:solidFill>
                <a:latin typeface="Trebuchet MS"/>
              </a:rPr>
              <a:t>$455k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0196" y="5468112"/>
            <a:ext cx="345429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rebuchet MS"/>
              </a:rPr>
              <a:t>Starter plan also decreases, reflecting broader issues in lower-tier offerings.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6C4BF0"/>
                </a:solidFill>
                <a:latin typeface="Trebuchet MS"/>
              </a:rPr>
              <a:t>COUNTRY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11747"/>
                </a:solidFill>
                <a:latin typeface="Trebuchet MS"/>
              </a:rPr>
              <a:t>The United States leads MRR with $515k, but shows a decline of -$43k.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rebuchet MS"/>
              </a:rPr>
              <a:t>Source: dim_country: mrr by country (2026-05), verified against the data.</a:t>
            </a:r>
          </a:p>
        </p:txBody>
      </p:sp>
      <p:pic>
        <p:nvPicPr>
          <p:cNvPr id="5" name="Picture 4" descr="char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rebuchet MS"/>
              </a:rPr>
              <a:t>In May 2026, the United States remains the top country for Monthly Recurring Revenue (MRR) at $515k, followed by the United Kingdom at $377k and Germany at $360k. However, the U.S. experienced a significant decline of -$43k compared to the previous month. Notably, France was the biggest mover, increasing its MRR by +$16k, indicating a positive trend amidst overall declines in other major markets.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211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Trebuchet MS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Trebuchet MS"/>
              </a:rPr>
              <a:t>This highlights the need for targeted strategies to stabilize and grow MRR in key markets.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rebuchet MS"/>
              </a:rPr>
              <a:t>•  Top three countries: United States ($515k), United Kingdom ($377k), Germany ($360k).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rebuchet MS"/>
              </a:rPr>
              <a:t>•  France increased MRR by +$16k, contrasting with declines in other markets.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rebuchet MS"/>
              </a:rPr>
              <a:t>•  Concentration remains high with the top three countries accounting for a significant share of MRR.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6C4BF0"/>
                </a:solidFill>
                <a:latin typeface="Trebuchet MS"/>
              </a:rP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11747"/>
                </a:solidFill>
                <a:latin typeface="Trebuchet MS"/>
              </a:rPr>
              <a:t>Priorities for the coming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rebuchet MS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rebuchet MS"/>
              </a:rPr>
              <a:t>1.   Analyze the decline in the Business plan and implement corrective strategies to recover the -$30k loss.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rebuchet MS"/>
              </a:rPr>
              <a:t>2.   Enhance marketing efforts in the United States to address the -$43k decline and boost engagement.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rebuchet MS"/>
              </a:rPr>
              <a:t>3.   Focus on upselling and cross-selling opportunities within the Enterprise plan, which accounts for $1.99M or 52.2% of total MRR.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rebuchet MS"/>
              </a:rPr>
              <a:t>4.   Conduct a competitive analysis to identify market trends affecting MRR and adjust pricing strategies accordingly.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