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740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211747"/>
                </a:solidFill>
                <a:latin typeface="Trebuchet MS"/>
              </a:rPr>
              <a:t>Monthly MRR Performance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03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7A828C"/>
                </a:solidFill>
                <a:latin typeface="Trebuchet MS"/>
              </a:rPr>
              <a:t>Period 2026-05  |  source table: ex_saas_metrics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828C"/>
                </a:solidFill>
                <a:latin typeface="Trebuchet MS"/>
              </a:rPr>
              <a:t>Generated 2026-06-10 17:37 UTC   | 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C4BF0"/>
                </a:solidFill>
                <a:latin typeface="Trebuchet M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1747"/>
                </a:solidFill>
                <a:latin typeface="Trebuchet MS"/>
              </a:rPr>
              <a:t>Sustained growth in MRR highlights resilience despite regional challenges.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28C"/>
                </a:solidFill>
                <a:latin typeface="Trebuchet MS"/>
              </a:rPr>
              <a:t>Source: figures verified against the source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12772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6C4BF0"/>
                </a:solidFill>
              </a:rPr>
              <a:t>●  </a:t>
            </a:r>
            <a:r>
              <a:rPr sz="1600" b="0">
                <a:solidFill>
                  <a:srgbClr val="3C4450"/>
                </a:solidFill>
                <a:latin typeface="Trebuchet MS"/>
              </a:rPr>
              <a:t>Total MRR reached $1.56M in 2026-05, up +1.2% from $1.54M in 2026-04.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6C4BF0"/>
                </a:solidFill>
              </a:rPr>
              <a:t>●  </a:t>
            </a:r>
            <a:r>
              <a:rPr sz="1600" b="0">
                <a:solidFill>
                  <a:srgbClr val="3C4450"/>
                </a:solidFill>
                <a:latin typeface="Trebuchet MS"/>
              </a:rPr>
              <a:t>Enterprise plan leads at $805k, representing 51.6% of total MRR.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6C4BF0"/>
                </a:solidFill>
              </a:rPr>
              <a:t>●  </a:t>
            </a:r>
            <a:r>
              <a:rPr sz="1600" b="0">
                <a:solidFill>
                  <a:srgbClr val="3C4450"/>
                </a:solidFill>
                <a:latin typeface="Trebuchet MS"/>
              </a:rPr>
              <a:t>Business plan experienced a decline of -$10k compared to the prior month.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6C4BF0"/>
                </a:solidFill>
              </a:rPr>
              <a:t>●  </a:t>
            </a:r>
            <a:r>
              <a:rPr sz="1600" b="0">
                <a:solidFill>
                  <a:srgbClr val="3C4450"/>
                </a:solidFill>
                <a:latin typeface="Trebuchet MS"/>
              </a:rPr>
              <a:t>North America remains the top region at $532k, accounting for 34.1% of total MRR.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6C4BF0"/>
                </a:solidFill>
              </a:rPr>
              <a:t>●  </a:t>
            </a:r>
            <a:r>
              <a:rPr sz="1600" b="0">
                <a:solidFill>
                  <a:srgbClr val="3C4450"/>
                </a:solidFill>
                <a:latin typeface="Trebuchet MS"/>
              </a:rPr>
              <a:t>North America saw a decline of -$14k versus the previous month.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C4BF0"/>
                </a:solidFill>
                <a:latin typeface="Trebuchet MS"/>
              </a:rPr>
              <a:t>FINANCIAL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1747"/>
                </a:solidFill>
                <a:latin typeface="Trebuchet MS"/>
              </a:rPr>
              <a:t>Total MRR reached $1.56M in May, marking a peak month performance.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28C"/>
                </a:solidFill>
                <a:latin typeface="Trebuchet MS"/>
              </a:rPr>
              <a:t>Source: performance: Monthly mrr, verified against the data.</a:t>
            </a:r>
          </a:p>
        </p:txBody>
      </p:sp>
      <p:pic>
        <p:nvPicPr>
          <p:cNvPr id="5" name="Picture 4" descr="char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6949440" cy="3563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6949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828C"/>
                </a:solidFill>
                <a:latin typeface="Trebuchet MS"/>
              </a:rPr>
              <a:t>In May 2026, total MRR increased to $1.56M from $1.54M in April, reflecting a growth of +1.2% or +$18k. This performance represents a seasonal peak, matching the highest MRR recorded in the past year. The trend shows consistent growth over the last several months, indicating a strong upward trajectory in monthly recurring revenue.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783080"/>
            <a:ext cx="3931920" cy="457200"/>
          </a:xfrm>
          <a:prstGeom prst="rect">
            <a:avLst/>
          </a:prstGeom>
          <a:solidFill>
            <a:srgbClr val="211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Trebuchet MS"/>
              </a:rPr>
              <a:t>KEY TAKEAWAY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40280"/>
            <a:ext cx="3931920" cy="3200400"/>
          </a:xfrm>
          <a:prstGeom prst="rect">
            <a:avLst/>
          </a:prstGeom>
          <a:solidFill>
            <a:srgbClr val="E6E8EB"/>
          </a:solidFill>
          <a:ln w="9525">
            <a:solidFill>
              <a:srgbClr val="C0C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600"/>
              </a:spcAft>
            </a:pPr>
            <a:r>
              <a:rPr sz="1300" b="0">
                <a:solidFill>
                  <a:srgbClr val="3C4450"/>
                </a:solidFill>
                <a:latin typeface="Trebuchet MS"/>
              </a:rPr>
              <a:t>Sustained growth in MRR highlights strong market demand and effective customer retention strategies.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Trebuchet MS"/>
              </a:rPr>
              <a:t>•  May 2026 MRR matches the peak of $1.56M.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Trebuchet MS"/>
              </a:rPr>
              <a:t>•  April 2026 MRR was $1.54M, showing steady growth.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Trebuchet MS"/>
              </a:rPr>
              <a:t>•  Recent months indicate a positive trend in MRR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C4BF0"/>
                </a:solidFill>
                <a:latin typeface="Trebuchet MS"/>
              </a:rPr>
              <a:t>PLAN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1747"/>
                </a:solidFill>
                <a:latin typeface="Trebuchet MS"/>
              </a:rPr>
              <a:t>Enterprise leads with $805k, showing a $20k increase from April.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28C"/>
                </a:solidFill>
                <a:latin typeface="Trebuchet MS"/>
              </a:rPr>
              <a:t>Source: dim_plan: mrr by plan (2026-05), verified against the data.</a:t>
            </a:r>
          </a:p>
        </p:txBody>
      </p:sp>
      <p:pic>
        <p:nvPicPr>
          <p:cNvPr id="5" name="Picture 4" descr="ch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6949440" cy="3563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6949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828C"/>
                </a:solidFill>
                <a:latin typeface="Trebuchet MS"/>
              </a:rPr>
              <a:t>In May 2026, the Enterprise plan dominates with a total MRR of $805k, representing 51.6% of total MRR. The Business plan follows at $570k, experiencing a decline of $10k from the previous month. The Starter plan increased by $9k to reach $184k, marking it as the biggest mover among the plans.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783080"/>
            <a:ext cx="3931920" cy="457200"/>
          </a:xfrm>
          <a:prstGeom prst="rect">
            <a:avLst/>
          </a:prstGeom>
          <a:solidFill>
            <a:srgbClr val="211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Trebuchet MS"/>
              </a:rPr>
              <a:t>KEY TAKEAWAY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40280"/>
            <a:ext cx="3931920" cy="3200400"/>
          </a:xfrm>
          <a:prstGeom prst="rect">
            <a:avLst/>
          </a:prstGeom>
          <a:solidFill>
            <a:srgbClr val="E6E8EB"/>
          </a:solidFill>
          <a:ln w="9525">
            <a:solidFill>
              <a:srgbClr val="C0C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600"/>
              </a:spcAft>
            </a:pPr>
            <a:r>
              <a:rPr sz="1300" b="0">
                <a:solidFill>
                  <a:srgbClr val="3C4450"/>
                </a:solidFill>
                <a:latin typeface="Trebuchet MS"/>
              </a:rPr>
              <a:t>Focusing on the Enterprise plan's growth can drive overall revenue stability.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Trebuchet MS"/>
              </a:rPr>
              <a:t>•  Enterprise plan contributes 51.6% of total MRR with $805k.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Trebuchet MS"/>
              </a:rPr>
              <a:t>•  Business plan decreased by $10k to $570k.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Trebuchet MS"/>
              </a:rPr>
              <a:t>•  Starter plan grew by $9k to $184k, the largest increase.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C4BF0"/>
                </a:solidFill>
                <a:latin typeface="Trebuchet MS"/>
              </a:rPr>
              <a:t>REGION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1747"/>
                </a:solidFill>
                <a:latin typeface="Trebuchet MS"/>
              </a:rPr>
              <a:t>North America leads MRR at $532k, but LATAM grows by $21k.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28C"/>
                </a:solidFill>
                <a:latin typeface="Trebuchet MS"/>
              </a:rPr>
              <a:t>Source: dim_region: mrr by region (2026-05), verified against the data.</a:t>
            </a:r>
          </a:p>
        </p:txBody>
      </p:sp>
      <p:pic>
        <p:nvPicPr>
          <p:cNvPr id="5" name="Picture 4" descr="char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6949440" cy="3563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6949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828C"/>
                </a:solidFill>
                <a:latin typeface="Trebuchet MS"/>
              </a:rPr>
              <a:t>In May 2026, North America dominates with an MRR of $532k, representing 34.1% of total MRR across regions. LATAM shows the most significant growth, increasing by $21k to reach $270k, while EMEA and APAC also experience modest gains. However, North America declines by $14k compared to the previous month, indicating potential challenges in maintaining its lead.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783080"/>
            <a:ext cx="3931920" cy="457200"/>
          </a:xfrm>
          <a:prstGeom prst="rect">
            <a:avLst/>
          </a:prstGeom>
          <a:solidFill>
            <a:srgbClr val="211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Trebuchet MS"/>
              </a:rPr>
              <a:t>KEY TAKEAWAY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40280"/>
            <a:ext cx="3931920" cy="3200400"/>
          </a:xfrm>
          <a:prstGeom prst="rect">
            <a:avLst/>
          </a:prstGeom>
          <a:solidFill>
            <a:srgbClr val="E6E8EB"/>
          </a:solidFill>
          <a:ln w="9525">
            <a:solidFill>
              <a:srgbClr val="C0C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600"/>
              </a:spcAft>
            </a:pPr>
            <a:r>
              <a:rPr sz="1300" b="0">
                <a:solidFill>
                  <a:srgbClr val="3C4450"/>
                </a:solidFill>
                <a:latin typeface="Trebuchet MS"/>
              </a:rPr>
              <a:t>Focus on LATAM's growth potential while addressing North America's declining trend.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Trebuchet MS"/>
              </a:rPr>
              <a:t>•  North America: $532k MRR, 34.1% of total MRR.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Trebuchet MS"/>
              </a:rPr>
              <a:t>•  LATAM grows by $21k, the largest increase among regions.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Trebuchet MS"/>
              </a:rPr>
              <a:t>•  EMEA and APAC see smaller gains of $7k and $3k, respectively.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C4BF0"/>
                </a:solidFill>
                <a:latin typeface="Trebuchet MS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1747"/>
                </a:solidFill>
                <a:latin typeface="Trebuchet MS"/>
              </a:rPr>
              <a:t>Priorities for the coming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28C"/>
                </a:solidFill>
                <a:latin typeface="Trebuchet MS"/>
              </a:rPr>
              <a:t>Source: figures verified against the source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12772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0">
                <a:solidFill>
                  <a:srgbClr val="3C4450"/>
                </a:solidFill>
                <a:latin typeface="Trebuchet MS"/>
              </a:rPr>
              <a:t>1.   Increase focus on the Enterprise plan to sustain its $805k contribution to total mrr.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3C4450"/>
                </a:solidFill>
                <a:latin typeface="Trebuchet MS"/>
              </a:rPr>
              <a:t>2.   Implement targeted strategies to recover the $10k decline in the Business plan.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3C4450"/>
                </a:solidFill>
                <a:latin typeface="Trebuchet MS"/>
              </a:rPr>
              <a:t>3.   Enhance marketing efforts in North America to address the $14k decline in the region.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3C4450"/>
                </a:solidFill>
                <a:latin typeface="Trebuchet MS"/>
              </a:rPr>
              <a:t>4.   Analyze customer feedback to identify and resolve issues affecting mrr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